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7d7ab56062493a" /><Relationship Type="http://schemas.openxmlformats.org/officeDocument/2006/relationships/extended-properties" Target="/docProps/app.xml" Id="R2f365a7911754c26" /><Relationship Type="http://schemas.openxmlformats.org/officeDocument/2006/relationships/officeDocument" Target="/ppt/presentation.xml" Id="R73856466b1fe44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e9e071a19c4f16"/>
  </p:sldMasterIdLst>
  <p:notesMasterIdLst>
    <p:notesMasterId xmlns:r="http://schemas.openxmlformats.org/officeDocument/2006/relationships" r:id="Rd88639d79b7549a5"/>
  </p:notesMasterIdLst>
  <p:sldIdLst>
    <p:sldId xmlns:r="http://schemas.openxmlformats.org/officeDocument/2006/relationships" id="256" r:id="R131b6f76e46a47e7"/>
    <p:sldId xmlns:r="http://schemas.openxmlformats.org/officeDocument/2006/relationships" id="257" r:id="R51cf6b3864b74b4c"/>
    <p:sldId xmlns:r="http://schemas.openxmlformats.org/officeDocument/2006/relationships" id="258" r:id="R01bb68c45d824837"/>
    <p:sldId xmlns:r="http://schemas.openxmlformats.org/officeDocument/2006/relationships" id="259" r:id="Re3545b9ea1264080"/>
    <p:sldId xmlns:r="http://schemas.openxmlformats.org/officeDocument/2006/relationships" id="260" r:id="R4126e31eff224915"/>
    <p:sldId xmlns:r="http://schemas.openxmlformats.org/officeDocument/2006/relationships" id="261" r:id="Rd62a4715e8374637"/>
    <p:sldId xmlns:r="http://schemas.openxmlformats.org/officeDocument/2006/relationships" id="262" r:id="R97efebb499994f1b"/>
    <p:sldId xmlns:r="http://schemas.openxmlformats.org/officeDocument/2006/relationships" id="263" r:id="Ra799228ccb144c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262b834bc74223" /><Relationship Type="http://schemas.openxmlformats.org/officeDocument/2006/relationships/slideMaster" Target="/ppt/slideMasters/slideMaster1.xml" Id="R11e9e071a19c4f16" /><Relationship Type="http://schemas.openxmlformats.org/officeDocument/2006/relationships/notesMaster" Target="/ppt/notesMasters/notesMaster1.xml" Id="Rd88639d79b7549a5" /><Relationship Type="http://schemas.openxmlformats.org/officeDocument/2006/relationships/presProps" Target="/ppt/presProps.xml" Id="Rf0cb1ae9fe0d449b" /><Relationship Type="http://schemas.openxmlformats.org/officeDocument/2006/relationships/tableStyles" Target="/ppt/tableStyles.xml" Id="Rb416903a16424d45" /><Relationship Type="http://schemas.openxmlformats.org/officeDocument/2006/relationships/slide" Target="/ppt/slides/slide1.xml" Id="R131b6f76e46a47e7" /><Relationship Type="http://schemas.openxmlformats.org/officeDocument/2006/relationships/slide" Target="/ppt/slides/slide2.xml" Id="R51cf6b3864b74b4c" /><Relationship Type="http://schemas.openxmlformats.org/officeDocument/2006/relationships/slide" Target="/ppt/slides/slide3.xml" Id="R01bb68c45d824837" /><Relationship Type="http://schemas.openxmlformats.org/officeDocument/2006/relationships/slide" Target="/ppt/slides/slide4.xml" Id="Re3545b9ea1264080" /><Relationship Type="http://schemas.openxmlformats.org/officeDocument/2006/relationships/slide" Target="/ppt/slides/slide5.xml" Id="R4126e31eff224915" /><Relationship Type="http://schemas.openxmlformats.org/officeDocument/2006/relationships/slide" Target="/ppt/slides/slide6.xml" Id="Rd62a4715e8374637" /><Relationship Type="http://schemas.openxmlformats.org/officeDocument/2006/relationships/slide" Target="/ppt/slides/slide7.xml" Id="R97efebb499994f1b" /><Relationship Type="http://schemas.openxmlformats.org/officeDocument/2006/relationships/slide" Target="/ppt/slides/slide8.xml" Id="Ra799228ccb144c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56218c890c4e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08e43a34334951" /><Relationship Type="http://schemas.openxmlformats.org/officeDocument/2006/relationships/notesMaster" Target="/ppt/notesMasters/notesMaster1.xml" Id="R39a77f062cf14e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17683b5d004284" /><Relationship Type="http://schemas.openxmlformats.org/officeDocument/2006/relationships/notesMaster" Target="/ppt/notesMasters/notesMaster1.xml" Id="R6e0149bac2b543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fad2e1d17e4b0b" /><Relationship Type="http://schemas.openxmlformats.org/officeDocument/2006/relationships/notesMaster" Target="/ppt/notesMasters/notesMaster1.xml" Id="R2201d91819cc4c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62419015d941c7" /><Relationship Type="http://schemas.openxmlformats.org/officeDocument/2006/relationships/notesMaster" Target="/ppt/notesMasters/notesMaster1.xml" Id="Ra5490b0cc42e47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c32b9196404ab1" /><Relationship Type="http://schemas.openxmlformats.org/officeDocument/2006/relationships/notesMaster" Target="/ppt/notesMasters/notesMaster1.xml" Id="Rc7603b59df404d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7a71b8e2b54d85" /><Relationship Type="http://schemas.openxmlformats.org/officeDocument/2006/relationships/notesMaster" Target="/ppt/notesMasters/notesMaster1.xml" Id="R18df57ebcc0c47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8acfa97aad460c" /><Relationship Type="http://schemas.openxmlformats.org/officeDocument/2006/relationships/notesMaster" Target="/ppt/notesMasters/notesMaster1.xml" Id="R36cce9da9ef742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c4e14b1c8d4ac9" /><Relationship Type="http://schemas.openxmlformats.org/officeDocument/2006/relationships/notesMaster" Target="/ppt/notesMasters/notesMaster1.xml" Id="R07d8d1c3f2d841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8beb1bcc94f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4334aad9d24a9d" /><Relationship Type="http://schemas.openxmlformats.org/officeDocument/2006/relationships/slideLayout" Target="/ppt/slideLayouts/slideLayout1.xml" Id="R9bfe070411d94e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fe070411d94e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46ad24cc04826" /><Relationship Type="http://schemas.openxmlformats.org/officeDocument/2006/relationships/notesSlide" Target="/ppt/notesSlides/notesSlide1.xml" Id="R2bfdc31df68b4a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16486cef145c1" /><Relationship Type="http://schemas.openxmlformats.org/officeDocument/2006/relationships/notesSlide" Target="/ppt/notesSlides/notesSlide2.xml" Id="R1a53d9f0172343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d585c976b4d35" /><Relationship Type="http://schemas.openxmlformats.org/officeDocument/2006/relationships/notesSlide" Target="/ppt/notesSlides/notesSlide3.xml" Id="R9ed600d485b942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6a1f290234b93" /><Relationship Type="http://schemas.openxmlformats.org/officeDocument/2006/relationships/notesSlide" Target="/ppt/notesSlides/notesSlide4.xml" Id="R86a6a515cdf043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29237c5e4453e" /><Relationship Type="http://schemas.openxmlformats.org/officeDocument/2006/relationships/notesSlide" Target="/ppt/notesSlides/notesSlide5.xml" Id="Re40c2846dfd44e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51e5ab36e4140" /><Relationship Type="http://schemas.openxmlformats.org/officeDocument/2006/relationships/notesSlide" Target="/ppt/notesSlides/notesSlide6.xml" Id="R68b8768a7dd049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b6db5e7504ed1" /><Relationship Type="http://schemas.openxmlformats.org/officeDocument/2006/relationships/notesSlide" Target="/ppt/notesSlides/notesSlide7.xml" Id="R5f5f02269f8540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b7cf43ae148f5" /><Relationship Type="http://schemas.openxmlformats.org/officeDocument/2006/relationships/notesSlide" Target="/ppt/notesSlides/notesSlide8.xml" Id="R15bec010416e46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3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B39AC-2726-4B99-B021-3BAFD143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حارس النار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7294F-E459-4080-BA19-8C97EEA1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D7EEE8"/>
                </a:solidFill>
              </a:defRPr>
            </a:pPr>
            <a:r>
              <a:rPr sz="2100" b="0">
                <a:solidFill>
                  <a:srgbClr val="D7EEE8"/>
                </a:solidFill>
              </a:rPr>
              <a:t>منصة ذكاء اصطناعي للإنذار المبكر وإدارة مخاطر حرائق المناطق النائية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4EAEE-87EA-497E-8F32-6D63F608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2095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F6B32"/>
          </a:solidFill>
          <a:ln xmlns:a="http://schemas.openxmlformats.org/drawingml/2006/main" w="0">
            <a:solidFill>
              <a:srgbClr val="EF6B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20767-2EF3-4FDB-961E-6FA70C31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9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نموذج أولي قابل للتجربة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D50FC-DAB0-4D0D-BE02-86A393C2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9D9D2"/>
                </a:solidFill>
              </a:defRPr>
            </a:pPr>
            <a:r>
              <a:rPr sz="1350" b="0">
                <a:solidFill>
                  <a:srgbClr val="B9D9D2"/>
                </a:solidFill>
              </a:rPr>
              <a:t>الدفاع المدني  •  المقيمون  •  فرق المراقبة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18DE5-39E5-42A7-8255-9887D536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28700"/>
            <a:ext cx="2133600" cy="2133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625D"/>
          </a:solidFill>
          <a:ln xmlns:a="http://schemas.openxmlformats.org/drawingml/2006/main" w="0">
            <a:solidFill>
              <a:srgbClr val="0F62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BE69A-5B81-4B5C-A8BA-ABC1CDC5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514475"/>
            <a:ext cx="11620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32"/>
          </a:solidFill>
          <a:ln xmlns:a="http://schemas.openxmlformats.org/drawingml/2006/main" w="0">
            <a:solidFill>
              <a:srgbClr val="EF6B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CA171-9F5C-4AC5-A953-B4944ED0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28775"/>
            <a:ext cx="95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0">
                <a:solidFill>
                  <a:srgbClr val="FFFFFF"/>
                </a:solidFill>
              </a:defRPr>
            </a:pPr>
            <a:r>
              <a:rPr sz="3750" b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9D6F6-BEF2-422C-A337-0DFFC97F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706D"/>
                </a:solidFill>
              </a:defRPr>
            </a:pPr>
            <a:r>
              <a:rPr sz="900" b="0">
                <a:solidFill>
                  <a:srgbClr val="5B706D"/>
                </a:solidFill>
              </a:rPr>
              <a:t>مشروع إنذار مبكر للحرائق في المناطق النائية  •  1</a:t>
            </a:r>
          </a:p>
        </p:txBody>
      </p:sp>
    </p:spTree>
    <p:extLst>
      <p:ext uri="{BB962C8B-B14F-4D97-AF65-F5344CB8AC3E}">
        <p14:creationId xmlns:p14="http://schemas.microsoft.com/office/powerpoint/2010/main" val="6707221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2CE98-30D4-4635-912E-37FC8837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736D"/>
                </a:solidFill>
              </a:defRPr>
            </a:pPr>
            <a:r>
              <a:rPr sz="1200" b="1">
                <a:solidFill>
                  <a:srgbClr val="08736D"/>
                </a:solidFill>
              </a:rPr>
              <a:t>حارس النار  |  المشكلة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A4191-DAB2-41DA-8465-E259F1B7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2C35"/>
                </a:solidFill>
              </a:defRPr>
            </a:pPr>
            <a:r>
              <a:rPr sz="2850" b="1">
                <a:solidFill>
                  <a:srgbClr val="102C35"/>
                </a:solidFill>
              </a:rPr>
              <a:t>الحرائق تُكتشف متأخرة حين يكون القرار أصعب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DEE29-A0CC-4FDA-B0CD-27C18D78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6334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102C35"/>
                </a:solidFill>
              </a:defRPr>
            </a:pPr>
            <a:r>
              <a:rPr sz="1875" b="0">
                <a:solidFill>
                  <a:srgbClr val="102C35"/>
                </a:solidFill>
              </a:rPr>
              <a:t>في المناطق النائية تتفرق إشارات الخطر بين الطقس وصور الأقمار الصناعية وسجل المواقع. النتيجة: صعوبة تحديد أين نرفع الجاهزية قبل أن يتحول الخطر إلى حريق واسع.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D4A1D-C444-4189-B1A7-DC47F04A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24050"/>
            <a:ext cx="32194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F5B57-9E00-4067-811D-49A5D4C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907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02C35"/>
                </a:solidFill>
              </a:defRPr>
            </a:pPr>
            <a:r>
              <a:rPr sz="1875" b="1">
                <a:solidFill>
                  <a:srgbClr val="102C35"/>
                </a:solidFill>
              </a:rPr>
              <a:t>إشارات متفرقة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BF5B7-F4B6-4977-91AA-21C562F2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14625"/>
            <a:ext cx="2571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B706D"/>
                </a:solidFill>
              </a:defRPr>
            </a:pPr>
            <a:r>
              <a:rPr sz="1725" b="0">
                <a:solidFill>
                  <a:srgbClr val="5B706D"/>
                </a:solidFill>
              </a:rPr>
              <a:t>☀️  حرارة وجفاف</a:t>
            </a:r>
          </a:p>
          <a:p xmlns:a="http://schemas.openxmlformats.org/drawingml/2006/main">
            <a:pPr algn="r">
              <a:defRPr sz="1725" b="0">
                <a:solidFill>
                  <a:srgbClr val="5B706D"/>
                </a:solidFill>
              </a:defRPr>
            </a:pPr>
            <a:r>
              <a:rPr sz="1725" b="0">
                <a:solidFill>
                  <a:srgbClr val="5B706D"/>
                </a:solidFill>
              </a:rPr>
              <a:t>💨  رياح متغيرة</a:t>
            </a:r>
          </a:p>
          <a:p xmlns:a="http://schemas.openxmlformats.org/drawingml/2006/main">
            <a:pPr algn="r">
              <a:defRPr sz="1725" b="0">
                <a:solidFill>
                  <a:srgbClr val="5B706D"/>
                </a:solidFill>
              </a:defRPr>
            </a:pPr>
            <a:r>
              <a:rPr sz="1725" b="0">
                <a:solidFill>
                  <a:srgbClr val="5B706D"/>
                </a:solidFill>
              </a:rPr>
              <a:t>🛰️  نقاط حرارية</a:t>
            </a:r>
          </a:p>
          <a:p xmlns:a="http://schemas.openxmlformats.org/drawingml/2006/main">
            <a:pPr algn="r">
              <a:defRPr sz="1725" b="0">
                <a:solidFill>
                  <a:srgbClr val="5B706D"/>
                </a:solidFill>
              </a:defRPr>
            </a:pPr>
            <a:r>
              <a:rPr sz="1725" b="0">
                <a:solidFill>
                  <a:srgbClr val="5B706D"/>
                </a:solidFill>
              </a:rPr>
              <a:t>📍  تاريخ حرائق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DB933-DB5E-46EA-84BA-5FB65034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3524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736D"/>
          </a:solidFill>
          <a:ln xmlns:a="http://schemas.openxmlformats.org/drawingml/2006/main" w="0">
            <a:solidFill>
              <a:srgbClr val="0873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F4360-B509-49D1-A47E-00E35364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524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المستخدمون: الدفاع المدني والمقيمون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852DF-801C-48FB-A8B4-85A5C7CA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706D"/>
                </a:solidFill>
              </a:defRPr>
            </a:pPr>
            <a:r>
              <a:rPr sz="900" b="0">
                <a:solidFill>
                  <a:srgbClr val="5B706D"/>
                </a:solidFill>
              </a:rPr>
              <a:t>مشروع إنذار مبكر للحرائق في المناطق النائية  •  2</a:t>
            </a:r>
          </a:p>
        </p:txBody>
      </p:sp>
    </p:spTree>
    <p:extLst>
      <p:ext uri="{BB962C8B-B14F-4D97-AF65-F5344CB8AC3E}">
        <p14:creationId xmlns:p14="http://schemas.microsoft.com/office/powerpoint/2010/main" val="991413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D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8C0FE-C4D8-4C75-B295-AA209D5E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736D"/>
                </a:solidFill>
              </a:defRPr>
            </a:pPr>
            <a:r>
              <a:rPr sz="1200" b="1">
                <a:solidFill>
                  <a:srgbClr val="08736D"/>
                </a:solidFill>
              </a:rPr>
              <a:t>حارس النار  |  الحل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DF96B-2132-4274-996C-C7271653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2C35"/>
                </a:solidFill>
              </a:defRPr>
            </a:pPr>
            <a:r>
              <a:rPr sz="2850" b="1">
                <a:solidFill>
                  <a:srgbClr val="102C35"/>
                </a:solidFill>
              </a:rPr>
              <a:t>تحويل البيانات المتفرقة إلى قرار وقائي واضح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69BEE-89FB-4362-9C61-8342AFFC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706D"/>
                </a:solidFill>
              </a:defRPr>
            </a:pPr>
            <a:r>
              <a:rPr sz="1425" b="0">
                <a:solidFill>
                  <a:srgbClr val="5B706D"/>
                </a:solidFill>
              </a:rPr>
              <a:t>درجة خطر لكل منطقة + توصية تنفيذية قابلة للمراجعة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6CEEC-96E3-495C-9CD5-EA3A243A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3379C-D3B1-4A86-8557-4CA94365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75" b="0">
                <a:solidFill>
                  <a:srgbClr val="102C35"/>
                </a:solidFill>
              </a:defRPr>
            </a:pPr>
            <a:r>
              <a:rPr sz="2475" b="0">
                <a:solidFill>
                  <a:srgbClr val="102C35"/>
                </a:solidFill>
              </a:rPr>
              <a:t>🛰️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6BE6B-170B-4420-9738-14DD4E58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647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02C35"/>
                </a:solidFill>
              </a:defRPr>
            </a:pPr>
            <a:r>
              <a:rPr sz="1950" b="1">
                <a:solidFill>
                  <a:srgbClr val="102C35"/>
                </a:solidFill>
              </a:rPr>
              <a:t>تجميع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16B4A-0E6E-4953-B2EB-404E22F3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2505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706D"/>
                </a:solidFill>
              </a:defRPr>
            </a:pPr>
            <a:r>
              <a:rPr sz="1350" b="0">
                <a:solidFill>
                  <a:srgbClr val="5B706D"/>
                </a:solidFill>
              </a:rPr>
              <a:t>طقس، نقاط حرارية، سجل حرائق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6423A-987A-43BB-8086-F354C97E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4D51A-4102-4168-B5EC-857A77F8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75" b="0">
                <a:solidFill>
                  <a:srgbClr val="102C35"/>
                </a:solidFill>
              </a:defRPr>
            </a:pPr>
            <a:r>
              <a:rPr sz="2475" b="0">
                <a:solidFill>
                  <a:srgbClr val="102C35"/>
                </a:solidFill>
              </a:rPr>
              <a:t>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2172F-F237-40A3-B0A1-91E25A06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647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02C35"/>
                </a:solidFill>
              </a:defRPr>
            </a:pPr>
            <a:r>
              <a:rPr sz="1950" b="1">
                <a:solidFill>
                  <a:srgbClr val="102C35"/>
                </a:solidFill>
              </a:rPr>
              <a:t>تقييم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FA9C1-2740-4E2F-AE9B-CA4298EB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2505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706D"/>
                </a:solidFill>
              </a:defRPr>
            </a:pPr>
            <a:r>
              <a:rPr sz="1350" b="0">
                <a:solidFill>
                  <a:srgbClr val="5B706D"/>
                </a:solidFill>
              </a:rPr>
              <a:t>درجة خطر من 0 إلى 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F35B0-5BDD-4C75-883C-D0060D5B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2E5D1-DCE0-45FB-ACC9-BFC15B87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75" b="0">
                <a:solidFill>
                  <a:srgbClr val="102C35"/>
                </a:solidFill>
              </a:defRPr>
            </a:pPr>
            <a:r>
              <a:rPr sz="2475" b="0">
                <a:solidFill>
                  <a:srgbClr val="102C35"/>
                </a:solidFill>
              </a:rPr>
              <a:t>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5E040-13F6-4BC4-A6DA-C54AA31C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47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02C35"/>
                </a:solidFill>
              </a:defRPr>
            </a:pPr>
            <a:r>
              <a:rPr sz="1950" b="1">
                <a:solidFill>
                  <a:srgbClr val="102C35"/>
                </a:solidFill>
              </a:rPr>
              <a:t>استجابة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F25B6-9D9C-4416-9600-5145C962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2505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706D"/>
                </a:solidFill>
              </a:defRPr>
            </a:pPr>
            <a:r>
              <a:rPr sz="1350" b="0">
                <a:solidFill>
                  <a:srgbClr val="5B706D"/>
                </a:solidFill>
              </a:rPr>
              <a:t>تنبيه وخطوة تشغيلية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B5124-D352-41D2-9557-75B173D8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36D"/>
                </a:solidFill>
              </a:defRPr>
            </a:pPr>
            <a:r>
              <a:rPr sz="1500" b="1">
                <a:solidFill>
                  <a:srgbClr val="08736D"/>
                </a:solidFill>
              </a:rPr>
              <a:t>القرار النهائي يبقى للمسؤول البشري؛ النظام يرفع الوعي وسرعة الاستجابة.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2F619-37F9-4CA0-B796-EE828C02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706D"/>
                </a:solidFill>
              </a:defRPr>
            </a:pPr>
            <a:r>
              <a:rPr sz="900" b="0">
                <a:solidFill>
                  <a:srgbClr val="5B706D"/>
                </a:solidFill>
              </a:rPr>
              <a:t>مشروع إنذار مبكر للحرائق في المناطق النائية  •  3</a:t>
            </a:r>
          </a:p>
        </p:txBody>
      </p:sp>
    </p:spTree>
    <p:extLst>
      <p:ext uri="{BB962C8B-B14F-4D97-AF65-F5344CB8AC3E}">
        <p14:creationId xmlns:p14="http://schemas.microsoft.com/office/powerpoint/2010/main" val="14361931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CBF93-771C-41E8-AB93-F72AE552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736D"/>
                </a:solidFill>
              </a:defRPr>
            </a:pPr>
            <a:r>
              <a:rPr sz="1200" b="1">
                <a:solidFill>
                  <a:srgbClr val="08736D"/>
                </a:solidFill>
              </a:rPr>
              <a:t>حارس النار  |  دور الوكلاء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DD18D-41F4-45D8-9CFC-04624FF9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2C35"/>
                </a:solidFill>
              </a:defRPr>
            </a:pPr>
            <a:r>
              <a:rPr sz="2850" b="1">
                <a:solidFill>
                  <a:srgbClr val="102C35"/>
                </a:solidFill>
              </a:rPr>
              <a:t>ثلاثة وكلاء يعملون كفريق واحد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C09D0-8E0B-4CB5-B389-D3681C4E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2190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8F5"/>
          </a:solidFill>
          <a:ln xmlns:a="http://schemas.openxmlformats.org/drawingml/2006/main" w="0">
            <a:solidFill>
              <a:srgbClr val="EEF8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1F61B-AFA4-4C22-8D57-78D31CD3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288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736D"/>
                </a:solidFill>
              </a:defRPr>
            </a:pPr>
            <a:r>
              <a:rPr sz="2400" b="1">
                <a:solidFill>
                  <a:srgbClr val="08736D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CBB88-AE39-4616-9578-0EFAB962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C35"/>
                </a:solidFill>
              </a:defRPr>
            </a:pPr>
            <a:r>
              <a:rPr sz="1500" b="1">
                <a:solidFill>
                  <a:srgbClr val="102C35"/>
                </a:solidFill>
              </a:rPr>
              <a:t>وكيل الاستشعار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A5171-B65B-4925-BB6C-569469C4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480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6D"/>
                </a:solidFill>
              </a:defRPr>
            </a:pPr>
            <a:r>
              <a:rPr sz="1125" b="0">
                <a:solidFill>
                  <a:srgbClr val="5B706D"/>
                </a:solidFill>
              </a:rPr>
              <a:t>يجمع ويُوحّد البيانات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B2DFF-8AB7-4336-AEC6-E0AD3303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38375"/>
            <a:ext cx="2190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0">
            <a:solidFill>
              <a:srgbClr val="FFF3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50991-8942-4C21-80B8-00903924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4288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F6B32"/>
                </a:solidFill>
              </a:defRPr>
            </a:pPr>
            <a:r>
              <a:rPr sz="2400" b="1">
                <a:solidFill>
                  <a:srgbClr val="EF6B32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63263-AFCB-4730-B86F-CE723C26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C35"/>
                </a:solidFill>
              </a:defRPr>
            </a:pPr>
            <a:r>
              <a:rPr sz="1500" b="1">
                <a:solidFill>
                  <a:srgbClr val="102C35"/>
                </a:solidFill>
              </a:rPr>
              <a:t>وكيل تقييم الخطر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2D6DB-FDD4-40F0-BD97-0C39EB5E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480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6D"/>
                </a:solidFill>
              </a:defRPr>
            </a:pPr>
            <a:r>
              <a:rPr sz="1125" b="0">
                <a:solidFill>
                  <a:srgbClr val="5B706D"/>
                </a:solidFill>
              </a:rPr>
              <a:t>يحلل ويبرر الدرجة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FF212-EBC1-4AB9-B5D8-AC40A28F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2190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8F5"/>
          </a:solidFill>
          <a:ln xmlns:a="http://schemas.openxmlformats.org/drawingml/2006/main" w="0">
            <a:solidFill>
              <a:srgbClr val="EEF8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CB4EA-F590-4F44-A203-0B0FC7BC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288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736D"/>
                </a:solidFill>
              </a:defRPr>
            </a:pPr>
            <a:r>
              <a:rPr sz="2400" b="1">
                <a:solidFill>
                  <a:srgbClr val="08736D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BAE00-469B-416D-B028-C53ED57D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0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C35"/>
                </a:solidFill>
              </a:defRPr>
            </a:pPr>
            <a:r>
              <a:rPr sz="1500" b="1">
                <a:solidFill>
                  <a:srgbClr val="102C35"/>
                </a:solidFill>
              </a:rPr>
              <a:t>وكيل الاستجابة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502E5-6807-45ED-B050-008C362C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480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6D"/>
                </a:solidFill>
              </a:defRPr>
            </a:pPr>
            <a:r>
              <a:rPr sz="1125" b="0">
                <a:solidFill>
                  <a:srgbClr val="5B706D"/>
                </a:solidFill>
              </a:rPr>
              <a:t>يقرر التوصية ويرسل التقرير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3DD02-050F-4497-B190-6C8FF8D9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14287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F6B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DAECC-2C19-4192-AE07-AFA42D7B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43250"/>
            <a:ext cx="14287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F6B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BBCF0-5FF9-4720-945D-D412799B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706D"/>
                </a:solidFill>
              </a:defRPr>
            </a:pPr>
            <a:r>
              <a:rPr sz="1650" b="0">
                <a:solidFill>
                  <a:srgbClr val="5B706D"/>
                </a:solidFill>
              </a:rPr>
              <a:t>يعيد النظام عرض مستوى الثقة وأسباب القرار ليسهّل المراجعة البشرية.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61B6E-D565-47A3-BECA-9D0234EA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706D"/>
                </a:solidFill>
              </a:defRPr>
            </a:pPr>
            <a:r>
              <a:rPr sz="900" b="0">
                <a:solidFill>
                  <a:srgbClr val="5B706D"/>
                </a:solidFill>
              </a:rPr>
              <a:t>مشروع إنذار مبكر للحرائق في المناطق النائية  •  4</a:t>
            </a:r>
          </a:p>
        </p:txBody>
      </p:sp>
    </p:spTree>
    <p:extLst>
      <p:ext uri="{BB962C8B-B14F-4D97-AF65-F5344CB8AC3E}">
        <p14:creationId xmlns:p14="http://schemas.microsoft.com/office/powerpoint/2010/main" val="17899896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50B19-AB36-48A2-AB7B-3A4EAA04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736D"/>
                </a:solidFill>
              </a:defRPr>
            </a:pPr>
            <a:r>
              <a:rPr sz="1200" b="1">
                <a:solidFill>
                  <a:srgbClr val="08736D"/>
                </a:solidFill>
              </a:rPr>
              <a:t>حارس النار  |  سير العمل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9C339-9677-4451-B778-8BA67A89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2C35"/>
                </a:solidFill>
              </a:defRPr>
            </a:pPr>
            <a:r>
              <a:rPr sz="2850" b="1">
                <a:solidFill>
                  <a:srgbClr val="102C35"/>
                </a:solidFill>
              </a:rPr>
              <a:t>من الطلب إلى النتيجة خلال دورة واحدة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616AF-F14B-43F0-8FB6-9FA2F8B9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9FB03-6919-4696-8246-765E672F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6B32"/>
                </a:solidFill>
              </a:defRPr>
            </a:pPr>
            <a:r>
              <a:rPr sz="1875" b="1">
                <a:solidFill>
                  <a:srgbClr val="EF6B32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F6A89-372C-4D0F-8067-3C434327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528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C35"/>
                </a:solidFill>
              </a:defRPr>
            </a:pPr>
            <a:r>
              <a:rPr sz="1275" b="1">
                <a:solidFill>
                  <a:srgbClr val="102C35"/>
                </a:solidFill>
              </a:rPr>
              <a:t>اختيار المنطقة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14917-5FAC-4DDA-BE94-464B4094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43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36D"/>
                </a:solidFill>
              </a:defRPr>
            </a:pPr>
            <a:r>
              <a:rPr sz="2025" b="1">
                <a:solidFill>
                  <a:srgbClr val="08736D"/>
                </a:solidFill>
              </a:rPr>
              <a:t>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172DF-23C7-4A18-A7B7-C7420E82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14625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A21D5-7B40-4736-97F7-5AEFF00A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956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6B32"/>
                </a:solidFill>
              </a:defRPr>
            </a:pPr>
            <a:r>
              <a:rPr sz="1875" b="1">
                <a:solidFill>
                  <a:srgbClr val="EF6B32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40451-B014-4610-95EF-A4ACCDDA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528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C35"/>
                </a:solidFill>
              </a:defRPr>
            </a:pPr>
            <a:r>
              <a:rPr sz="1275" b="1">
                <a:solidFill>
                  <a:srgbClr val="102C35"/>
                </a:solidFill>
              </a:rPr>
              <a:t>قراءة البيانات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6B8C1-340F-4111-836D-2D34B449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43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36D"/>
                </a:solidFill>
              </a:defRPr>
            </a:pPr>
            <a:r>
              <a:rPr sz="2025" b="1">
                <a:solidFill>
                  <a:srgbClr val="08736D"/>
                </a:solidFill>
              </a:rPr>
              <a:t>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6F1C5-EF9A-4DF8-A8DC-BA72ED95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14625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1B662-1AB5-456A-A703-ED6E4E95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956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6B32"/>
                </a:solidFill>
              </a:defRPr>
            </a:pPr>
            <a:r>
              <a:rPr sz="1875" b="1">
                <a:solidFill>
                  <a:srgbClr val="EF6B32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7F047-9E6E-4539-B825-92150970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3528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C35"/>
                </a:solidFill>
              </a:defRPr>
            </a:pPr>
            <a:r>
              <a:rPr sz="1275" b="1">
                <a:solidFill>
                  <a:srgbClr val="102C35"/>
                </a:solidFill>
              </a:rPr>
              <a:t>تحليل الخطر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398FF-1625-4270-9CAE-00645288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36D"/>
                </a:solidFill>
              </a:defRPr>
            </a:pPr>
            <a:r>
              <a:rPr sz="2025" b="1">
                <a:solidFill>
                  <a:srgbClr val="08736D"/>
                </a:solidFill>
              </a:rPr>
              <a:t>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18891-F890-4BC9-894A-02B28498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714625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E40F8-A4FC-4224-8F30-2D0813A9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956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6B32"/>
                </a:solidFill>
              </a:defRPr>
            </a:pPr>
            <a:r>
              <a:rPr sz="1875" b="1">
                <a:solidFill>
                  <a:srgbClr val="EF6B32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2A91F-B6D4-49A5-B316-27B4E8F0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528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C35"/>
                </a:solidFill>
              </a:defRPr>
            </a:pPr>
            <a:r>
              <a:rPr sz="1275" b="1">
                <a:solidFill>
                  <a:srgbClr val="102C35"/>
                </a:solidFill>
              </a:rPr>
              <a:t>اختيار الأداة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C8E8D-6732-4260-BAA4-1C0AFC5C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43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36D"/>
                </a:solidFill>
              </a:defRPr>
            </a:pPr>
            <a:r>
              <a:rPr sz="2025" b="1">
                <a:solidFill>
                  <a:srgbClr val="08736D"/>
                </a:solidFill>
              </a:rPr>
              <a:t>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A43E5-85EA-46EF-939D-F5FE01FB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14625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9CF57-519F-4A6C-B943-5C86B074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956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6B32"/>
                </a:solidFill>
              </a:defRPr>
            </a:pPr>
            <a:r>
              <a:rPr sz="1875" b="1">
                <a:solidFill>
                  <a:srgbClr val="EF6B32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B57EDF-F914-46F1-A637-1B08A084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3528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C35"/>
                </a:solidFill>
              </a:defRPr>
            </a:pPr>
            <a:r>
              <a:rPr sz="1275" b="1">
                <a:solidFill>
                  <a:srgbClr val="102C35"/>
                </a:solidFill>
              </a:rPr>
              <a:t>التنبيه والتقرير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D9F68-DDDE-4679-8A9F-B70B1E8B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36D"/>
                </a:solidFill>
              </a:defRPr>
            </a:pPr>
            <a:r>
              <a:rPr sz="1650" b="1">
                <a:solidFill>
                  <a:srgbClr val="08736D"/>
                </a:solidFill>
              </a:rPr>
              <a:t>طلب المستخدم  ↓  تحليل الطلب  ↓  اختيار الأداة  ↓  تنفيذ المهمة  ↓  عرض النتيجة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0DC06-9251-4AB4-9A17-CFAA79E7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706D"/>
                </a:solidFill>
              </a:defRPr>
            </a:pPr>
            <a:r>
              <a:rPr sz="900" b="0">
                <a:solidFill>
                  <a:srgbClr val="5B706D"/>
                </a:solidFill>
              </a:rPr>
              <a:t>مشروع إنذار مبكر للحرائق في المناطق النائية  •  5</a:t>
            </a:r>
          </a:p>
        </p:txBody>
      </p:sp>
    </p:spTree>
    <p:extLst>
      <p:ext uri="{BB962C8B-B14F-4D97-AF65-F5344CB8AC3E}">
        <p14:creationId xmlns:p14="http://schemas.microsoft.com/office/powerpoint/2010/main" val="16516036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8AF03-27DA-42B9-A5CC-C26E76EC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736D"/>
                </a:solidFill>
              </a:defRPr>
            </a:pPr>
            <a:r>
              <a:rPr sz="1200" b="1">
                <a:solidFill>
                  <a:srgbClr val="08736D"/>
                </a:solidFill>
              </a:rPr>
              <a:t>حارس النار  |  تجربة النموذج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AA67C-3CBB-41DF-A1FF-B15D8D2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2C35"/>
                </a:solidFill>
              </a:defRPr>
            </a:pPr>
            <a:r>
              <a:rPr sz="2850" b="1">
                <a:solidFill>
                  <a:srgbClr val="102C35"/>
                </a:solidFill>
              </a:rPr>
              <a:t>تنومة: درجة خطر 72 وتوصية جاهزية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1E280-41D4-47C1-94FB-6BECB4C1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66750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E4F0E9"/>
          </a:solidFill>
          <a:ln xmlns:a="http://schemas.openxmlformats.org/drawingml/2006/main" w="0">
            <a:solidFill>
              <a:srgbClr val="E4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ADBA2-EE7F-4658-AE71-65806997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C35"/>
                </a:solidFill>
              </a:defRPr>
            </a:pPr>
            <a:r>
              <a:rPr sz="1500" b="1">
                <a:solidFill>
                  <a:srgbClr val="102C35"/>
                </a:solidFill>
              </a:rPr>
              <a:t>خريطة المخاطر — منطقة عسير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65EBC-5BEF-445F-86C4-88877348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813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232"/>
          </a:solidFill>
          <a:ln xmlns:a="http://schemas.openxmlformats.org/drawingml/2006/main" w="0">
            <a:solidFill>
              <a:srgbClr val="C942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1C67D-6C61-45A1-A297-043F39EC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575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C35"/>
                </a:solidFill>
              </a:defRPr>
            </a:pPr>
            <a:r>
              <a:rPr sz="975" b="1">
                <a:solidFill>
                  <a:srgbClr val="102C35"/>
                </a:solidFill>
              </a:rPr>
              <a:t>تنومة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A3815-778F-47C3-8E5C-17D2AA59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242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32"/>
          </a:solidFill>
          <a:ln xmlns:a="http://schemas.openxmlformats.org/drawingml/2006/main" w="0">
            <a:solidFill>
              <a:srgbClr val="EF6B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C42C4-92C8-4306-B539-454F40B7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C35"/>
                </a:solidFill>
              </a:defRPr>
            </a:pPr>
            <a:r>
              <a:rPr sz="975" b="1">
                <a:solidFill>
                  <a:srgbClr val="102C35"/>
                </a:solidFill>
              </a:rPr>
              <a:t>أبها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4D454-ED56-446D-B93B-968775F5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718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B32"/>
          </a:solidFill>
          <a:ln xmlns:a="http://schemas.openxmlformats.org/drawingml/2006/main" w="0">
            <a:solidFill>
              <a:srgbClr val="EF6B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47326-D704-4043-BC7B-E195069B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481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C35"/>
                </a:solidFill>
              </a:defRPr>
            </a:pPr>
            <a:r>
              <a:rPr sz="975" b="1">
                <a:solidFill>
                  <a:srgbClr val="102C35"/>
                </a:solidFill>
              </a:rPr>
              <a:t>محايل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1AEA7-7197-481D-B32B-7A8334B4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672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44"/>
          </a:solidFill>
          <a:ln xmlns:a="http://schemas.openxmlformats.org/drawingml/2006/main" w="0">
            <a:solidFill>
              <a:srgbClr val="F2B5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D85F6-111A-4AEB-8BA2-9309E721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434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C35"/>
                </a:solidFill>
              </a:defRPr>
            </a:pPr>
            <a:r>
              <a:rPr sz="975" b="1">
                <a:solidFill>
                  <a:srgbClr val="102C35"/>
                </a:solidFill>
              </a:rPr>
              <a:t>خميس مشيط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92997-EBF6-429D-AF00-A9446C67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81200"/>
            <a:ext cx="3105150" cy="369570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00A5A-57CE-45B9-BCF2-51D94800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2C35"/>
                </a:solidFill>
              </a:defRPr>
            </a:pPr>
            <a:r>
              <a:rPr sz="1725" b="1">
                <a:solidFill>
                  <a:srgbClr val="102C35"/>
                </a:solidFill>
              </a:rPr>
              <a:t>توصية الوكيل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28B29-C1B7-4562-88E5-B21666B6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C94232"/>
                </a:solidFill>
              </a:defRPr>
            </a:pPr>
            <a:r>
              <a:rPr sz="1800" b="1">
                <a:solidFill>
                  <a:srgbClr val="C94232"/>
                </a:solidFill>
              </a:rPr>
              <a:t>أولوية: عالية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427E4-76A9-4C5B-9DCF-6ECAB8E3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0425"/>
            <a:ext cx="2333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102C35"/>
                </a:solidFill>
              </a:defRPr>
            </a:pPr>
            <a:r>
              <a:rPr sz="1425" b="0">
                <a:solidFill>
                  <a:srgbClr val="102C35"/>
                </a:solidFill>
              </a:rPr>
              <a:t>رفع جاهزية الفرقة القريبة</a:t>
            </a:r>
          </a:p>
          <a:p xmlns:a="http://schemas.openxmlformats.org/drawingml/2006/main">
            <a:pPr algn="r">
              <a:defRPr sz="1425" b="0">
                <a:solidFill>
                  <a:srgbClr val="102C35"/>
                </a:solidFill>
              </a:defRPr>
            </a:pPr>
            <a:r>
              <a:rPr sz="1425" b="0">
                <a:solidFill>
                  <a:srgbClr val="102C35"/>
                </a:solidFill>
              </a:rPr>
              <a:t>وتنبيه المقيمين لتجنب</a:t>
            </a:r>
          </a:p>
          <a:p xmlns:a="http://schemas.openxmlformats.org/drawingml/2006/main">
            <a:pPr algn="r">
              <a:defRPr sz="1425" b="0">
                <a:solidFill>
                  <a:srgbClr val="102C35"/>
                </a:solidFill>
              </a:defRPr>
            </a:pPr>
            <a:r>
              <a:rPr sz="1425" b="0">
                <a:solidFill>
                  <a:srgbClr val="102C35"/>
                </a:solidFill>
              </a:rPr>
              <a:t>إشعال النار حتى 22:00.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3781E-E215-41B3-86FF-5DB95CA3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232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706D"/>
                </a:solidFill>
              </a:defRPr>
            </a:pPr>
            <a:r>
              <a:rPr sz="1050" b="0">
                <a:solidFill>
                  <a:srgbClr val="5B706D"/>
                </a:solidFill>
              </a:rPr>
              <a:t>السبب: رياح نشطة + جفاف مرتفع + سجل متكرر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C6D18-FBE2-4D0B-9981-2234D6E8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706D"/>
                </a:solidFill>
              </a:defRPr>
            </a:pPr>
            <a:r>
              <a:rPr sz="900" b="0">
                <a:solidFill>
                  <a:srgbClr val="5B706D"/>
                </a:solidFill>
              </a:rPr>
              <a:t>مشروع إنذار مبكر للحرائق في المناطق النائية  •  6</a:t>
            </a:r>
          </a:p>
        </p:txBody>
      </p:sp>
    </p:spTree>
    <p:extLst>
      <p:ext uri="{BB962C8B-B14F-4D97-AF65-F5344CB8AC3E}">
        <p14:creationId xmlns:p14="http://schemas.microsoft.com/office/powerpoint/2010/main" val="665224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D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F0141-2326-4525-A2D9-781B221F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736D"/>
                </a:solidFill>
              </a:defRPr>
            </a:pPr>
            <a:r>
              <a:rPr sz="1200" b="1">
                <a:solidFill>
                  <a:srgbClr val="08736D"/>
                </a:solidFill>
              </a:rPr>
              <a:t>حارس النار  |  الأدوات المستخدمة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A00FC-C077-45EF-914E-1112BA29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2C35"/>
                </a:solidFill>
              </a:defRPr>
            </a:pPr>
            <a:r>
              <a:rPr sz="2850" b="1">
                <a:solidFill>
                  <a:srgbClr val="102C35"/>
                </a:solidFill>
              </a:rPr>
              <a:t>تصميم قابل للربط بمصادر حية عند الإطلاق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45143-6B25-4F95-B6D8-C908941A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2AD7D-CF89-42C5-A269-C467FF7D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621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36D"/>
                </a:solidFill>
              </a:defRPr>
            </a:pPr>
            <a:r>
              <a:rPr sz="1350" b="1">
                <a:solidFill>
                  <a:srgbClr val="08736D"/>
                </a:solidFill>
              </a:rPr>
              <a:t>نموذج الذكاء الاصطناعي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80309-862D-422B-BD6D-B1AB22BB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621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C35"/>
                </a:solidFill>
              </a:defRPr>
            </a:pPr>
            <a:r>
              <a:rPr sz="1275" b="0">
                <a:solidFill>
                  <a:srgbClr val="102C35"/>
                </a:solidFill>
              </a:rPr>
              <a:t>OpenAI GPT لتحويل التحليل إلى تقرير وتنبيه مفهوم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B929D-8DC7-4BD7-B34F-0E7DEF9B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820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8D9DF-E4AA-47B7-802A-348A2096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71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36D"/>
                </a:solidFill>
              </a:defRPr>
            </a:pPr>
            <a:r>
              <a:rPr sz="1350" b="1">
                <a:solidFill>
                  <a:srgbClr val="08736D"/>
                </a:solidFill>
              </a:rPr>
              <a:t>البيانات الميدانية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9BEA8-D16C-4029-8158-BD63E5F3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C35"/>
                </a:solidFill>
              </a:defRPr>
            </a:pPr>
            <a:r>
              <a:rPr sz="1275" b="0">
                <a:solidFill>
                  <a:srgbClr val="102C35"/>
                </a:solidFill>
              </a:rPr>
              <a:t>NASA FIRMS للنقاط الحرارية + OpenWeather للطقس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FE810-D53E-4B56-877C-86066D81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C4F48-87AD-48CE-807E-CA812D56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814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36D"/>
                </a:solidFill>
              </a:defRPr>
            </a:pPr>
            <a:r>
              <a:rPr sz="1350" b="1">
                <a:solidFill>
                  <a:srgbClr val="08736D"/>
                </a:solidFill>
              </a:rPr>
              <a:t>الخريطة والبيانات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0D003-3580-47DF-B615-63B339A4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C35"/>
                </a:solidFill>
              </a:defRPr>
            </a:pPr>
            <a:r>
              <a:rPr sz="1275" b="0">
                <a:solidFill>
                  <a:srgbClr val="102C35"/>
                </a:solidFill>
              </a:rPr>
              <a:t>Mapbox أو Google Maps + PostgreSQL/PostGIS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96C3C-F512-4FC9-B040-096BF60A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3C539-5FD4-4F16-8DB2-D6704D20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91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36D"/>
                </a:solidFill>
              </a:defRPr>
            </a:pPr>
            <a:r>
              <a:rPr sz="1350" b="1">
                <a:solidFill>
                  <a:srgbClr val="08736D"/>
                </a:solidFill>
              </a:rPr>
              <a:t>الأتمتة والتنبيهات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0563A-7193-4723-8DF6-A2F8F7F0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C35"/>
                </a:solidFill>
              </a:defRPr>
            </a:pPr>
            <a:r>
              <a:rPr sz="1275" b="0">
                <a:solidFill>
                  <a:srgbClr val="102C35"/>
                </a:solidFill>
              </a:rPr>
              <a:t>n8n + SMS/واتساب أو إشعارات التطبيق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C8CDC-61B6-4ECF-B3B8-72712D04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706D"/>
                </a:solidFill>
              </a:defRPr>
            </a:pPr>
            <a:r>
              <a:rPr sz="900" b="0">
                <a:solidFill>
                  <a:srgbClr val="5B706D"/>
                </a:solidFill>
              </a:rPr>
              <a:t>مشروع إنذار مبكر للحرائق في المناطق النائية  •  7</a:t>
            </a:r>
          </a:p>
        </p:txBody>
      </p:sp>
    </p:spTree>
    <p:extLst>
      <p:ext uri="{BB962C8B-B14F-4D97-AF65-F5344CB8AC3E}">
        <p14:creationId xmlns:p14="http://schemas.microsoft.com/office/powerpoint/2010/main" val="1361502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3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69E1A-E1CE-4891-9DA0-F1935165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736D"/>
                </a:solidFill>
              </a:defRPr>
            </a:pPr>
            <a:r>
              <a:rPr sz="1200" b="1">
                <a:solidFill>
                  <a:srgbClr val="08736D"/>
                </a:solidFill>
              </a:rPr>
              <a:t>حارس النار  |  التحديات والتطوير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E5A9C-6F9D-464D-A028-58EB27F4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2C35"/>
                </a:solidFill>
              </a:defRPr>
            </a:pPr>
            <a:r>
              <a:rPr sz="2850" b="1">
                <a:solidFill>
                  <a:srgbClr val="102C35"/>
                </a:solidFill>
              </a:rPr>
              <a:t>خطوة عملية تبدأ بسيطة وتتوسع بأمان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8784B-B2D7-42E5-A47A-6E878B65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4629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5A56"/>
          </a:solidFill>
          <a:ln xmlns:a="http://schemas.openxmlformats.org/drawingml/2006/main" w="0">
            <a:solidFill>
              <a:srgbClr val="0D5A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A7D9A-698A-4504-9C39-8C90F8FB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14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جودة البيانات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622ED-1C94-48C3-A779-E1539567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14575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2EEE7"/>
                </a:solidFill>
              </a:defRPr>
            </a:pPr>
            <a:r>
              <a:rPr sz="1125" b="0">
                <a:solidFill>
                  <a:srgbClr val="D2EEE7"/>
                </a:solidFill>
              </a:rPr>
              <a:t>تأكيد النقاط الحرارية قبل أي إنذار عاجل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220C8-485D-401C-B422-52DA7A83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4629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5A56"/>
          </a:solidFill>
          <a:ln xmlns:a="http://schemas.openxmlformats.org/drawingml/2006/main" w="0">
            <a:solidFill>
              <a:srgbClr val="0D5A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79026-BC49-4E58-AB1F-F74D8B2B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19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الاتصال في المناطق النائية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201F7-51BB-4B10-84F7-708339E8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2EEE7"/>
                </a:solidFill>
              </a:defRPr>
            </a:pPr>
            <a:r>
              <a:rPr sz="1125" b="0">
                <a:solidFill>
                  <a:srgbClr val="D2EEE7"/>
                </a:solidFill>
              </a:rPr>
              <a:t>رسائل SMS ووضع عمل منخفض الاتصال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A7D2A-F0C2-4681-B33F-65028177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629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5A56"/>
          </a:solidFill>
          <a:ln xmlns:a="http://schemas.openxmlformats.org/drawingml/2006/main" w="0">
            <a:solidFill>
              <a:srgbClr val="0D5A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BB7F2-1C4B-4435-8B7F-42F59EF1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243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التطوير القادم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F14E5-5B11-4D41-9F39-F8160C8B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24325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2EEE7"/>
                </a:solidFill>
              </a:defRPr>
            </a:pPr>
            <a:r>
              <a:rPr sz="1125" b="0">
                <a:solidFill>
                  <a:srgbClr val="D2EEE7"/>
                </a:solidFill>
              </a:rPr>
              <a:t>تنبؤ 24–72 ساعة، مسارات الإخلاء، سجل مراجعة للقرارات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A7D0D-D745-4C31-AB94-A00534C5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هدفنا: وقت إنذار أقصر، قرار أوضح، ومجتمعات أكثر جاهزية.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BF8BC-8FB5-4660-9E9D-EFDE76F3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095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F6B32"/>
          </a:solidFill>
          <a:ln xmlns:a="http://schemas.openxmlformats.org/drawingml/2006/main" w="0">
            <a:solidFill>
              <a:srgbClr val="EF6B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AF3D1-EE4A-448F-A9CB-189B5846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209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جاهز للعرض والتجربة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3A48C-7A1C-453B-96F4-C36A9524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706D"/>
                </a:solidFill>
              </a:defRPr>
            </a:pPr>
            <a:r>
              <a:rPr sz="900" b="0">
                <a:solidFill>
                  <a:srgbClr val="5B706D"/>
                </a:solidFill>
              </a:rPr>
              <a:t>مشروع إنذار مبكر للحرائق في المناطق النائية  •  8</a:t>
            </a:r>
          </a:p>
        </p:txBody>
      </p:sp>
    </p:spTree>
    <p:extLst>
      <p:ext uri="{BB962C8B-B14F-4D97-AF65-F5344CB8AC3E}">
        <p14:creationId xmlns:p14="http://schemas.microsoft.com/office/powerpoint/2010/main" val="1090600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2026-08-07T00:07:16.1490000Z</dcterms:created>
  <dcterms:modified xsi:type="dcterms:W3CDTF">2026-08-07T00:07:16.1490000Z</dcterms:modified>
</coreProperties>
</file>